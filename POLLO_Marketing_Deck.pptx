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12c2140-4915-7f5a-ab49-e6d3477c682b}">
          <p14:sldIdLst>
            <p14:sldId id="256"/>
          </p14:sldIdLst>
        </p14:section>
        <p14:section name="Brand" id="{88ede633-d911-25e4-f4e4-2a98032668d5}">
          <p14:sldIdLst>
            <p14:sldId id="257"/>
          </p14:sldIdLst>
        </p14:section>
        <p14:section name="Product" id="{e0c7dd7d-8860-9d77-0288-36d709457dc2}">
          <p14:sldIdLst>
            <p14:sldId id="258"/>
            <p14:sldId id="259"/>
          </p14:sldIdLst>
        </p14:section>
        <p14:section name="Marketing" id="{efe490bf-1f9a-c616-c927-9f7708f6640e}">
          <p14:sldIdLst>
            <p14:sldId id="260"/>
            <p14:sldId id="261"/>
          </p14:sldIdLst>
        </p14:section>
        <p14:section name="Plan" id="{b4e472ea-3c14-0c1f-9fa8-9df9208fc970}">
          <p14:sldIdLst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slide: PÓLLO brand, tagline "Drink Green. Live Clean." and the headline numbers of the proposed launch.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E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1"/>
                </a:solidFill>
              </a:rPr>
              <a:t>PÓLLO  ·  Drink Green. Live Clean.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E56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banner" descr="PÓLLO brand banner with green bottle by a mountain lak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236116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88036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Overview &amp; Marketing Collaboration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8D3"/>
                </a:solidFill>
              </a:rPr>
              <a:t>Sustainable hydration for a better tomorrow</a:t>
            </a:r>
            <a:endParaRPr lang="en-US" sz="2200" dirty="0"/>
          </a:p>
        </p:txBody>
      </p:sp>
      <p:sp>
        <p:nvSpPr>
          <p:cNvPr id="5" name="Stat card 1"/>
          <p:cNvSpPr/>
          <p:nvPr/>
        </p:nvSpPr>
        <p:spPr>
          <a:xfrm>
            <a:off x="731520" y="457200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4709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F3E6"/>
                </a:solidFill>
              </a:rPr>
              <a:t>colours</a:t>
            </a:r>
            <a:endParaRPr lang="en-US" sz="1600" dirty="0"/>
          </a:p>
        </p:txBody>
      </p:sp>
      <p:sp>
        <p:nvSpPr>
          <p:cNvPr id="8" name="Stat card 2"/>
          <p:cNvSpPr/>
          <p:nvPr/>
        </p:nvSpPr>
        <p:spPr>
          <a:xfrm>
            <a:off x="4389120" y="457200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4709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F3E6"/>
                </a:solidFill>
              </a:rPr>
              <a:t>unit launch run</a:t>
            </a:r>
            <a:endParaRPr lang="en-US" sz="1600" dirty="0"/>
          </a:p>
        </p:txBody>
      </p:sp>
      <p:sp>
        <p:nvSpPr>
          <p:cNvPr id="11" name="Stat card 3"/>
          <p:cNvSpPr/>
          <p:nvPr/>
        </p:nvSpPr>
        <p:spPr>
          <a:xfrm>
            <a:off x="8046720" y="4572000"/>
            <a:ext cx="3383280" cy="1463040"/>
          </a:xfrm>
          <a:prstGeom prst="roundRect">
            <a:avLst>
              <a:gd name="adj" fmla="val 7500"/>
            </a:avLst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470916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weeks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3F3E6"/>
                </a:solidFill>
              </a:rPr>
              <a:t>launch to distribution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bottle that is good for you and for Earth</a:t>
            </a:r>
            <a:endParaRPr lang="en-US" sz="3400" dirty="0"/>
          </a:p>
        </p:txBody>
      </p:sp>
      <p:sp>
        <p:nvSpPr>
          <p:cNvPr id="3" name="Pillar card 1"/>
          <p:cNvSpPr/>
          <p:nvPr/>
        </p:nvSpPr>
        <p:spPr>
          <a:xfrm>
            <a:off x="548640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Eco-Friendly circle"/>
          <p:cNvSpPr/>
          <p:nvPr/>
        </p:nvSpPr>
        <p:spPr>
          <a:xfrm>
            <a:off x="822960" y="182880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Eco-Friendly icon" descr="Eco-Friendl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075688"/>
            <a:ext cx="420624" cy="4206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Eco-Friendly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8404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Durable stainless steel, built to last and kind to the planet.</a:t>
            </a:r>
            <a:endParaRPr lang="en-US" sz="1600" dirty="0"/>
          </a:p>
        </p:txBody>
      </p:sp>
      <p:sp>
        <p:nvSpPr>
          <p:cNvPr id="8" name="Pillar card 2"/>
          <p:cNvSpPr/>
          <p:nvPr/>
        </p:nvSpPr>
        <p:spPr>
          <a:xfrm>
            <a:off x="3374136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Reusable circle"/>
          <p:cNvSpPr/>
          <p:nvPr/>
        </p:nvSpPr>
        <p:spPr>
          <a:xfrm>
            <a:off x="3648456" y="182880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Reusable icon" descr="Reusabl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344" y="2075688"/>
            <a:ext cx="420624" cy="42062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48456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3648456" y="38404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Same water. Less waste. More impact with every refill.</a:t>
            </a:r>
            <a:endParaRPr lang="en-US" sz="1600" dirty="0"/>
          </a:p>
        </p:txBody>
      </p:sp>
      <p:sp>
        <p:nvSpPr>
          <p:cNvPr id="13" name="Pillar card 3"/>
          <p:cNvSpPr/>
          <p:nvPr/>
        </p:nvSpPr>
        <p:spPr>
          <a:xfrm>
            <a:off x="6199632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BPA Free circle"/>
          <p:cNvSpPr/>
          <p:nvPr/>
        </p:nvSpPr>
        <p:spPr>
          <a:xfrm>
            <a:off x="6473952" y="182880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BPA Free icon" descr="BPA Fre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07568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73952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BPA Free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6473952" y="38404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Safe for your health and safe for daily use.</a:t>
            </a:r>
            <a:endParaRPr lang="en-US" sz="1600" dirty="0"/>
          </a:p>
        </p:txBody>
      </p:sp>
      <p:sp>
        <p:nvSpPr>
          <p:cNvPr id="18" name="Pillar card 4"/>
          <p:cNvSpPr/>
          <p:nvPr/>
        </p:nvSpPr>
        <p:spPr>
          <a:xfrm>
            <a:off x="9025128" y="1554480"/>
            <a:ext cx="2606040" cy="36576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Healthier You &amp; Planet circle"/>
          <p:cNvSpPr/>
          <p:nvPr/>
        </p:nvSpPr>
        <p:spPr>
          <a:xfrm>
            <a:off x="9299448" y="1828800"/>
            <a:ext cx="914400" cy="914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Healthier You &amp; Planet icon" descr="Healthier You &amp; Plane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336" y="2075688"/>
            <a:ext cx="420624" cy="42062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299448" y="30175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Healthier You &amp; Planet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9299448" y="384048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Good for you. Great for Earth.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5486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Sustainable Hydration for a Better Tomorrow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everyday adventures</a:t>
            </a:r>
            <a:endParaRPr lang="en-US" sz="3400" dirty="0"/>
          </a:p>
        </p:txBody>
      </p:sp>
      <p:pic>
        <p:nvPicPr>
          <p:cNvPr id="3" name="Product photo" descr="Green PÓLLO stainless steel water bot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377440" cy="5890374"/>
          </a:xfrm>
          <a:prstGeom prst="rect">
            <a:avLst/>
          </a:prstGeom>
        </p:spPr>
      </p:pic>
      <p:sp>
        <p:nvSpPr>
          <p:cNvPr id="4" name="BPA-Free circle"/>
          <p:cNvSpPr/>
          <p:nvPr/>
        </p:nvSpPr>
        <p:spPr>
          <a:xfrm>
            <a:off x="3474720" y="1371600"/>
            <a:ext cx="585216" cy="58521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BPA-Free icon" descr="BPA-Fre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2728" y="1529608"/>
            <a:ext cx="269199" cy="26919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251960" y="1371600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BPA-Free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6766560" y="1371600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Safe for your health</a:t>
            </a:r>
            <a:endParaRPr lang="en-US" sz="1600" dirty="0"/>
          </a:p>
        </p:txBody>
      </p:sp>
      <p:sp>
        <p:nvSpPr>
          <p:cNvPr id="8" name="Stainless Steel circle"/>
          <p:cNvSpPr/>
          <p:nvPr/>
        </p:nvSpPr>
        <p:spPr>
          <a:xfrm>
            <a:off x="3474720" y="2139696"/>
            <a:ext cx="585216" cy="58521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9" name="Stainless Steel icon" descr="Stainless Stee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2728" y="2297704"/>
            <a:ext cx="269199" cy="269199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251960" y="2139696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Stainless Steel</a:t>
            </a:r>
            <a:endParaRPr lang="en-US" sz="1800" dirty="0"/>
          </a:p>
        </p:txBody>
      </p:sp>
      <p:sp>
        <p:nvSpPr>
          <p:cNvPr id="11" name="Text 6"/>
          <p:cNvSpPr txBox="1"/>
          <p:nvPr/>
        </p:nvSpPr>
        <p:spPr>
          <a:xfrm>
            <a:off x="6766560" y="2139696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Premium quality and durable</a:t>
            </a:r>
            <a:endParaRPr lang="en-US" sz="1600" dirty="0"/>
          </a:p>
        </p:txBody>
      </p:sp>
      <p:sp>
        <p:nvSpPr>
          <p:cNvPr id="12" name="Leak-Proof circle"/>
          <p:cNvSpPr/>
          <p:nvPr/>
        </p:nvSpPr>
        <p:spPr>
          <a:xfrm>
            <a:off x="3474720" y="2907792"/>
            <a:ext cx="585216" cy="58521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3" name="Leak-Proof icon" descr="Leak-Proo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728" y="3065800"/>
            <a:ext cx="269199" cy="269199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4251960" y="2907792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Leak-Proof</a:t>
            </a:r>
            <a:endParaRPr lang="en-US" sz="1800" dirty="0"/>
          </a:p>
        </p:txBody>
      </p:sp>
      <p:sp>
        <p:nvSpPr>
          <p:cNvPr id="15" name="Text 9"/>
          <p:cNvSpPr txBox="1"/>
          <p:nvPr/>
        </p:nvSpPr>
        <p:spPr>
          <a:xfrm>
            <a:off x="6766560" y="2907792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Carry it anywhere</a:t>
            </a:r>
            <a:endParaRPr lang="en-US" sz="1600" dirty="0"/>
          </a:p>
        </p:txBody>
      </p:sp>
      <p:sp>
        <p:nvSpPr>
          <p:cNvPr id="16" name="Lightweight circle"/>
          <p:cNvSpPr/>
          <p:nvPr/>
        </p:nvSpPr>
        <p:spPr>
          <a:xfrm>
            <a:off x="3474720" y="3675888"/>
            <a:ext cx="585216" cy="58521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7" name="Lightweight icon" descr="Lightweigh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728" y="3833896"/>
            <a:ext cx="269199" cy="269199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4251960" y="3675888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Lightweight</a:t>
            </a:r>
            <a:endParaRPr lang="en-US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6766560" y="3675888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Easy to carry, every day</a:t>
            </a:r>
            <a:endParaRPr lang="en-US" sz="1600" dirty="0"/>
          </a:p>
        </p:txBody>
      </p:sp>
      <p:sp>
        <p:nvSpPr>
          <p:cNvPr id="20" name="Multiple Colours circle"/>
          <p:cNvSpPr/>
          <p:nvPr/>
        </p:nvSpPr>
        <p:spPr>
          <a:xfrm>
            <a:off x="3474720" y="4443984"/>
            <a:ext cx="585216" cy="585216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Multiple Colours icon" descr="Multiple Colour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32728" y="4601992"/>
            <a:ext cx="269199" cy="269199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4251960" y="4443984"/>
            <a:ext cx="24688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Multiple Colours</a:t>
            </a:r>
            <a:endParaRPr lang="en-US" sz="1800" dirty="0"/>
          </a:p>
        </p:txBody>
      </p:sp>
      <p:sp>
        <p:nvSpPr>
          <p:cNvPr id="23" name="Text 15"/>
          <p:cNvSpPr txBox="1"/>
          <p:nvPr/>
        </p:nvSpPr>
        <p:spPr>
          <a:xfrm>
            <a:off x="6766560" y="4443984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Find your perfect style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3474720" y="5349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Available in 5 colours</a:t>
            </a:r>
            <a:endParaRPr lang="en-US" sz="1600" dirty="0"/>
          </a:p>
        </p:txBody>
      </p:sp>
      <p:sp>
        <p:nvSpPr>
          <p:cNvPr id="25" name="Green swatch"/>
          <p:cNvSpPr/>
          <p:nvPr/>
        </p:nvSpPr>
        <p:spPr>
          <a:xfrm>
            <a:off x="3474720" y="5715000"/>
            <a:ext cx="384048" cy="384048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3931920" y="57150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Green</a:t>
            </a:r>
            <a:endParaRPr lang="en-US" sz="1200" dirty="0"/>
          </a:p>
        </p:txBody>
      </p:sp>
      <p:sp>
        <p:nvSpPr>
          <p:cNvPr id="27" name="Blue swatch"/>
          <p:cNvSpPr/>
          <p:nvPr/>
        </p:nvSpPr>
        <p:spPr>
          <a:xfrm>
            <a:off x="4663440" y="5715000"/>
            <a:ext cx="384048" cy="38404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5120640" y="57150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Blue</a:t>
            </a:r>
            <a:endParaRPr lang="en-US" sz="1200" dirty="0"/>
          </a:p>
        </p:txBody>
      </p:sp>
      <p:sp>
        <p:nvSpPr>
          <p:cNvPr id="29" name="Black swatch"/>
          <p:cNvSpPr/>
          <p:nvPr/>
        </p:nvSpPr>
        <p:spPr>
          <a:xfrm>
            <a:off x="5852160" y="5715000"/>
            <a:ext cx="384048" cy="384048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0" name="Text 22"/>
          <p:cNvSpPr txBox="1"/>
          <p:nvPr/>
        </p:nvSpPr>
        <p:spPr>
          <a:xfrm>
            <a:off x="6309360" y="57150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Black</a:t>
            </a:r>
            <a:endParaRPr lang="en-US" sz="1200" dirty="0"/>
          </a:p>
        </p:txBody>
      </p:sp>
      <p:sp>
        <p:nvSpPr>
          <p:cNvPr id="31" name="Pink swatch"/>
          <p:cNvSpPr/>
          <p:nvPr/>
        </p:nvSpPr>
        <p:spPr>
          <a:xfrm>
            <a:off x="7040880" y="5715000"/>
            <a:ext cx="384048" cy="384048"/>
          </a:xfrm>
          <a:prstGeom prst="ellipse">
            <a:avLst/>
          </a:prstGeom>
          <a:solidFill>
            <a:srgbClr val="F27AA5"/>
          </a:solidFill>
          <a:ln w="12700">
            <a:solidFill>
              <a:srgbClr val="F27AA5"/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7498080" y="57150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Pink</a:t>
            </a:r>
            <a:endParaRPr lang="en-US" sz="1200" dirty="0"/>
          </a:p>
        </p:txBody>
      </p:sp>
      <p:sp>
        <p:nvSpPr>
          <p:cNvPr id="33" name="White swatch"/>
          <p:cNvSpPr/>
          <p:nvPr/>
        </p:nvSpPr>
        <p:spPr>
          <a:xfrm>
            <a:off x="8229600" y="57150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B8C9BC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8686800" y="5715000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White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choose PÓLLO? Small changes, big impact</a:t>
            </a:r>
            <a:endParaRPr lang="en-US" sz="3400" dirty="0"/>
          </a:p>
        </p:txBody>
      </p:sp>
      <p:sp>
        <p:nvSpPr>
          <p:cNvPr id="3" name="Why card 1"/>
          <p:cNvSpPr/>
          <p:nvPr/>
        </p:nvSpPr>
        <p:spPr>
          <a:xfrm>
            <a:off x="548640" y="1463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Reduces Plastic Waste circle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Reduces Plastic Waste icon" descr="Reduces Plastic Was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8126" y="1922526"/>
            <a:ext cx="315468" cy="3154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Reduces Plastic Waste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One bottle replaces hundreds of single-use plastic bottles.</a:t>
            </a:r>
            <a:endParaRPr lang="en-US" sz="1400" dirty="0"/>
          </a:p>
        </p:txBody>
      </p:sp>
      <p:sp>
        <p:nvSpPr>
          <p:cNvPr id="8" name="Why card 2"/>
          <p:cNvSpPr/>
          <p:nvPr/>
        </p:nvSpPr>
        <p:spPr>
          <a:xfrm>
            <a:off x="4311396" y="1463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Better Health circle"/>
          <p:cNvSpPr/>
          <p:nvPr/>
        </p:nvSpPr>
        <p:spPr>
          <a:xfrm>
            <a:off x="4585716" y="173736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Better Health icon" descr="Better Health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882" y="1922526"/>
            <a:ext cx="315468" cy="3154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5716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Health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585716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BPA-free and safe for daily use.</a:t>
            </a:r>
            <a:endParaRPr lang="en-US" sz="1400" dirty="0"/>
          </a:p>
        </p:txBody>
      </p:sp>
      <p:sp>
        <p:nvSpPr>
          <p:cNvPr id="13" name="Why card 3"/>
          <p:cNvSpPr/>
          <p:nvPr/>
        </p:nvSpPr>
        <p:spPr>
          <a:xfrm>
            <a:off x="8074152" y="146304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Eco-Friendly Materials circle"/>
          <p:cNvSpPr/>
          <p:nvPr/>
        </p:nvSpPr>
        <p:spPr>
          <a:xfrm>
            <a:off x="8348472" y="173736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Eco-Friendly Materials icon" descr="Eco-Friendly Material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3638" y="1922526"/>
            <a:ext cx="315468" cy="31546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48472" y="2514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Eco-Friendly Materials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48472" y="2926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Durable stainless steel, built to last.</a:t>
            </a:r>
            <a:endParaRPr lang="en-US" sz="1400" dirty="0"/>
          </a:p>
        </p:txBody>
      </p:sp>
      <p:sp>
        <p:nvSpPr>
          <p:cNvPr id="18" name="Why card 4"/>
          <p:cNvSpPr/>
          <p:nvPr/>
        </p:nvSpPr>
        <p:spPr>
          <a:xfrm>
            <a:off x="548640" y="393192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For Every Lifestyle circle"/>
          <p:cNvSpPr/>
          <p:nvPr/>
        </p:nvSpPr>
        <p:spPr>
          <a:xfrm>
            <a:off x="822960" y="42062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For Every Lifestyle icon" descr="For Every Lifesty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26" y="4391406"/>
            <a:ext cx="315468" cy="3154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822960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Lifestyle</a:t>
            </a:r>
            <a:endParaRPr lang="en-US" sz="2000" dirty="0"/>
          </a:p>
        </p:txBody>
      </p:sp>
      <p:sp>
        <p:nvSpPr>
          <p:cNvPr id="22" name="Text 16"/>
          <p:cNvSpPr txBox="1"/>
          <p:nvPr/>
        </p:nvSpPr>
        <p:spPr>
          <a:xfrm>
            <a:off x="82296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Work, school, gym, travel and adventures.</a:t>
            </a:r>
            <a:endParaRPr lang="en-US" sz="1400" dirty="0"/>
          </a:p>
        </p:txBody>
      </p:sp>
      <p:sp>
        <p:nvSpPr>
          <p:cNvPr id="23" name="Why card 5"/>
          <p:cNvSpPr/>
          <p:nvPr/>
        </p:nvSpPr>
        <p:spPr>
          <a:xfrm>
            <a:off x="4311396" y="393192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A Cleaner Planet circle"/>
          <p:cNvSpPr/>
          <p:nvPr/>
        </p:nvSpPr>
        <p:spPr>
          <a:xfrm>
            <a:off x="4585716" y="4206240"/>
            <a:ext cx="685800" cy="6858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5" name="A Cleaner Planet icon" descr="A Cleaner Plane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0882" y="4391406"/>
            <a:ext cx="315468" cy="31546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585716" y="4983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Cleaner Planet</a:t>
            </a:r>
            <a:endParaRPr lang="en-US" sz="2000" dirty="0"/>
          </a:p>
        </p:txBody>
      </p:sp>
      <p:sp>
        <p:nvSpPr>
          <p:cNvPr id="27" name="Text 20"/>
          <p:cNvSpPr txBox="1"/>
          <p:nvPr/>
        </p:nvSpPr>
        <p:spPr>
          <a:xfrm>
            <a:off x="4585716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Together for a sustainable future.</a:t>
            </a:r>
            <a:endParaRPr lang="en-US" sz="1400" dirty="0"/>
          </a:p>
        </p:txBody>
      </p:sp>
      <p:sp>
        <p:nvSpPr>
          <p:cNvPr id="28" name="Tagline card"/>
          <p:cNvSpPr/>
          <p:nvPr/>
        </p:nvSpPr>
        <p:spPr>
          <a:xfrm>
            <a:off x="8074152" y="3931920"/>
            <a:ext cx="3566160" cy="2240280"/>
          </a:xfrm>
          <a:prstGeom prst="roundRect">
            <a:avLst>
              <a:gd name="adj" fmla="val 489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9" name="Leaf icon" descr="Leaf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8472" y="4206240"/>
            <a:ext cx="548640" cy="54864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8348472" y="484632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for you.</a:t>
            </a:r>
            <a:endParaRPr lang="en-US" sz="2600" dirty="0"/>
          </a:p>
          <a:p>
            <a:pPr indent="0" marL="0">
              <a:buNone/>
            </a:pPr>
            <a:r>
              <a:rPr lang="en-US" sz="2600" b="1" i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for Earth.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message across four social platforms</a:t>
            </a:r>
            <a:endParaRPr lang="en-US" sz="3400" dirty="0"/>
          </a:p>
        </p:txBody>
      </p:sp>
      <p:pic>
        <p:nvPicPr>
          <p:cNvPr id="3" name="Instagram post" descr="Instagram post desig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2606040" cy="20710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579785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Instagram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91265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Small choices make a big impact! Choose PÓLLO, the eco-friendly bottle that keeps you hydrated and helps reduce plastic waste.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#EcoFriendly #GreenLiving</a:t>
            </a:r>
            <a:endParaRPr lang="en-US" sz="1200" dirty="0"/>
          </a:p>
        </p:txBody>
      </p:sp>
      <p:pic>
        <p:nvPicPr>
          <p:cNvPr id="7" name="Facebook post" descr="Facebook post desig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4136" y="1371600"/>
            <a:ext cx="2606040" cy="207102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374136" y="3579785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Facebook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3374136" y="3991265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Whether you are at the gym, university or on your next adventure, PÓLLO is your perfect companion.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3374136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#SustainableLiving #Adventure</a:t>
            </a:r>
            <a:endParaRPr lang="en-US" sz="1200" dirty="0"/>
          </a:p>
        </p:txBody>
      </p:sp>
      <p:pic>
        <p:nvPicPr>
          <p:cNvPr id="11" name="LinkedIn post" descr="LinkedIn post desig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371600"/>
            <a:ext cx="2606040" cy="2071025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199632" y="3579785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LinkedIn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6199632" y="3991265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At PÓLLO we believe in sustainable solutions for everyday life, with bottles for people who care about health and the planet.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199632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#Sustainability #GreenBusiness</a:t>
            </a:r>
            <a:endParaRPr lang="en-US" sz="1200" dirty="0"/>
          </a:p>
        </p:txBody>
      </p:sp>
      <p:pic>
        <p:nvPicPr>
          <p:cNvPr id="15" name="TikTok post" descr="TikTok post desig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5128" y="1371600"/>
            <a:ext cx="2606040" cy="2071025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9025128" y="3579785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TikTok</a:t>
            </a:r>
            <a:endParaRPr lang="en-US" sz="1800" dirty="0"/>
          </a:p>
        </p:txBody>
      </p:sp>
      <p:sp>
        <p:nvSpPr>
          <p:cNvPr id="17" name="Text 11"/>
          <p:cNvSpPr txBox="1"/>
          <p:nvPr/>
        </p:nvSpPr>
        <p:spPr>
          <a:xfrm>
            <a:off x="9025128" y="3991265"/>
            <a:ext cx="2606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Hydrate. Reduce. Repeat. PÓLLO: because a better planet starts with you.</a:t>
            </a:r>
            <a:endParaRPr lang="en-US" sz="1300" dirty="0"/>
          </a:p>
        </p:txBody>
      </p:sp>
      <p:sp>
        <p:nvSpPr>
          <p:cNvPr id="18" name="Text 12"/>
          <p:cNvSpPr txBox="1"/>
          <p:nvPr/>
        </p:nvSpPr>
        <p:spPr>
          <a:xfrm>
            <a:off x="9025128" y="534924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#GoGreen #CleanPlanet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Proposal for a marketing collaboration</a:t>
            </a:r>
            <a:endParaRPr lang="en-US" sz="3400" dirty="0"/>
          </a:p>
        </p:txBody>
      </p:sp>
      <p:pic>
        <p:nvPicPr>
          <p:cNvPr id="3" name="Mock-up photo" descr="PÓLLO bottle beside branded packaging bo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3291840" cy="4433365"/>
          </a:xfrm>
          <a:prstGeom prst="rect">
            <a:avLst/>
          </a:prstGeom>
        </p:spPr>
      </p:pic>
      <p:sp>
        <p:nvSpPr>
          <p:cNvPr id="4" name="Proposal row 1"/>
          <p:cNvSpPr/>
          <p:nvPr/>
        </p:nvSpPr>
        <p:spPr>
          <a:xfrm>
            <a:off x="4206240" y="1371600"/>
            <a:ext cx="743407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Brand Overview circle"/>
          <p:cNvSpPr/>
          <p:nvPr/>
        </p:nvSpPr>
        <p:spPr>
          <a:xfrm>
            <a:off x="4434840" y="1527048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6" name="Brand Overview icon" descr="Brand Overview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786" y="1689994"/>
            <a:ext cx="277612" cy="2776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257800" y="1371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Brand Overview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7680960" y="137160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Sustainable · Stylish · Durable</a:t>
            </a:r>
            <a:endParaRPr lang="en-US" sz="1400" dirty="0"/>
          </a:p>
        </p:txBody>
      </p:sp>
      <p:sp>
        <p:nvSpPr>
          <p:cNvPr id="9" name="Proposal row 2"/>
          <p:cNvSpPr/>
          <p:nvPr/>
        </p:nvSpPr>
        <p:spPr>
          <a:xfrm>
            <a:off x="4206240" y="2468880"/>
            <a:ext cx="743407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Product Mock-ups circle"/>
          <p:cNvSpPr/>
          <p:nvPr/>
        </p:nvSpPr>
        <p:spPr>
          <a:xfrm>
            <a:off x="4434840" y="2624328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1" name="Product Mock-ups icon" descr="Product Mock-up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786" y="2787274"/>
            <a:ext cx="277612" cy="27761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57800" y="24688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Product Mock-ups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7680960" y="24688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Bottle, packaging and branded materials (attached)</a:t>
            </a:r>
            <a:endParaRPr lang="en-US" sz="1400" dirty="0"/>
          </a:p>
        </p:txBody>
      </p:sp>
      <p:sp>
        <p:nvSpPr>
          <p:cNvPr id="14" name="Proposal row 3"/>
          <p:cNvSpPr/>
          <p:nvPr/>
        </p:nvSpPr>
        <p:spPr>
          <a:xfrm>
            <a:off x="4206240" y="3566160"/>
            <a:ext cx="743407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Pricing &amp; Costing circle"/>
          <p:cNvSpPr/>
          <p:nvPr/>
        </p:nvSpPr>
        <p:spPr>
          <a:xfrm>
            <a:off x="4434840" y="3721608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6" name="Pricing &amp; Costing icon" descr="Pricing &amp; Cost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786" y="3884554"/>
            <a:ext cx="277612" cy="27761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5257800" y="35661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Pricing &amp; Costing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7680960" y="356616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Estimated budget on the next slide</a:t>
            </a:r>
            <a:endParaRPr lang="en-US" sz="1400" dirty="0"/>
          </a:p>
        </p:txBody>
      </p:sp>
      <p:sp>
        <p:nvSpPr>
          <p:cNvPr id="19" name="Proposal row 4"/>
          <p:cNvSpPr/>
          <p:nvPr/>
        </p:nvSpPr>
        <p:spPr>
          <a:xfrm>
            <a:off x="4206240" y="4663440"/>
            <a:ext cx="743407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ampaign Timeline circle"/>
          <p:cNvSpPr/>
          <p:nvPr/>
        </p:nvSpPr>
        <p:spPr>
          <a:xfrm>
            <a:off x="4434840" y="4818888"/>
            <a:ext cx="603504" cy="603504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1" name="Campaign Timeline icon" descr="Campaign Timelin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7786" y="4981834"/>
            <a:ext cx="277612" cy="27761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257800" y="46634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Campaign Timeline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7680960" y="466344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4 weeks, from launch to promotion</a:t>
            </a:r>
            <a:endParaRPr lang="en-US" sz="1400" dirty="0"/>
          </a:p>
        </p:txBody>
      </p:sp>
      <p:sp>
        <p:nvSpPr>
          <p:cNvPr id="24" name="Text 17"/>
          <p:cNvSpPr txBox="1"/>
          <p:nvPr/>
        </p:nvSpPr>
        <p:spPr>
          <a:xfrm>
            <a:off x="4206240" y="5669280"/>
            <a:ext cx="7434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a greener future together.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launch budget: PKR 2.3 million</a:t>
            </a:r>
            <a:endParaRPr lang="en-US" sz="3400" dirty="0"/>
          </a:p>
        </p:txBody>
      </p:sp>
      <p:graphicFrame>
        <p:nvGraphicFramePr>
          <p:cNvPr id="8" name="Costing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5895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463040"/>
                <a:gridCol w="1188720"/>
                <a:gridCol w="1645920"/>
              </a:tblGrid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cost (PKR)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Quantity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(PKR)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63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PÓLLO water bottle (500 ml)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branding / logo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Packaging (eco box)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Marketing materials (digital + print)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estimated cost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63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C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EC"/>
                    </a:solidFill>
                  </a:tcPr>
                </a:tc>
              </a:tr>
            </a:tbl>
          </a:graphicData>
        </a:graphic>
      </p:graphicFrame>
      <p:sp>
        <p:nvSpPr>
          <p:cNvPr id="4" name="Total card"/>
          <p:cNvSpPr/>
          <p:nvPr/>
        </p:nvSpPr>
        <p:spPr>
          <a:xfrm>
            <a:off x="8503920" y="1463040"/>
            <a:ext cx="3136392" cy="3566160"/>
          </a:xfrm>
          <a:prstGeom prst="roundRect">
            <a:avLst>
              <a:gd name="adj" fmla="val 349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778240" y="17373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8D3"/>
                </a:solidFill>
              </a:rPr>
              <a:t>Total estimate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778240" y="219456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2,300,000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29260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PKR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778240" y="356616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F3E6"/>
                </a:solidFill>
              </a:rPr>
              <a:t>For 1,000 bottles, about PKR 2,300 per unit all-in.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539496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tx1"/>
                </a:solidFill>
              </a:rPr>
              <a:t>Note: prices are estimates and can be adjusted based on final requirements and quantity.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weeks from design to distribution</a:t>
            </a:r>
            <a:endParaRPr lang="en-US" sz="3400" dirty="0"/>
          </a:p>
        </p:txBody>
      </p:sp>
      <p:sp>
        <p:nvSpPr>
          <p:cNvPr id="3" name="Timeline connector"/>
          <p:cNvSpPr/>
          <p:nvPr/>
        </p:nvSpPr>
        <p:spPr>
          <a:xfrm>
            <a:off x="1737360" y="2331720"/>
            <a:ext cx="8686800" cy="0"/>
          </a:xfrm>
          <a:prstGeom prst="line">
            <a:avLst/>
          </a:prstGeom>
          <a:noFill/>
          <a:ln w="38100">
            <a:solidFill>
              <a:srgbClr val="7AB648"/>
            </a:solidFill>
            <a:prstDash val="dash"/>
          </a:ln>
        </p:spPr>
      </p:sp>
      <p:sp>
        <p:nvSpPr>
          <p:cNvPr id="4" name="Week 1 circle"/>
          <p:cNvSpPr/>
          <p:nvPr/>
        </p:nvSpPr>
        <p:spPr>
          <a:xfrm>
            <a:off x="1371600" y="1828800"/>
            <a:ext cx="1005840" cy="10058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5" name="Week 1 icon" descr="Week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3177" y="2100377"/>
            <a:ext cx="462686" cy="46268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1</a:t>
            </a:r>
            <a:endParaRPr lang="en-US" sz="2400" dirty="0"/>
          </a:p>
        </p:txBody>
      </p:sp>
      <p:sp>
        <p:nvSpPr>
          <p:cNvPr id="7" name="Phase card 1"/>
          <p:cNvSpPr/>
          <p:nvPr/>
        </p:nvSpPr>
        <p:spPr>
          <a:xfrm>
            <a:off x="548640" y="3611880"/>
            <a:ext cx="26060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Design finalisation and approval</a:t>
            </a:r>
            <a:endParaRPr lang="en-US" sz="1600" dirty="0"/>
          </a:p>
        </p:txBody>
      </p:sp>
      <p:sp>
        <p:nvSpPr>
          <p:cNvPr id="9" name="Week 2 circle"/>
          <p:cNvSpPr/>
          <p:nvPr/>
        </p:nvSpPr>
        <p:spPr>
          <a:xfrm>
            <a:off x="4197096" y="1828800"/>
            <a:ext cx="1005840" cy="10058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0" name="Week 2 icon" descr="Week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673" y="2100377"/>
            <a:ext cx="462686" cy="46268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374136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2</a:t>
            </a:r>
            <a:endParaRPr lang="en-US" sz="2400" dirty="0"/>
          </a:p>
        </p:txBody>
      </p:sp>
      <p:sp>
        <p:nvSpPr>
          <p:cNvPr id="12" name="Phase card 2"/>
          <p:cNvSpPr/>
          <p:nvPr/>
        </p:nvSpPr>
        <p:spPr>
          <a:xfrm>
            <a:off x="3374136" y="3611880"/>
            <a:ext cx="26060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3557016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Production and packaging</a:t>
            </a:r>
            <a:endParaRPr lang="en-US" sz="1600" dirty="0"/>
          </a:p>
        </p:txBody>
      </p:sp>
      <p:sp>
        <p:nvSpPr>
          <p:cNvPr id="14" name="Week 3 circle"/>
          <p:cNvSpPr/>
          <p:nvPr/>
        </p:nvSpPr>
        <p:spPr>
          <a:xfrm>
            <a:off x="7022592" y="1828800"/>
            <a:ext cx="1005840" cy="10058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15" name="Week 3 icon" descr="Week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169" y="2100377"/>
            <a:ext cx="462686" cy="46268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199632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3</a:t>
            </a:r>
            <a:endParaRPr lang="en-US" sz="2400" dirty="0"/>
          </a:p>
        </p:txBody>
      </p:sp>
      <p:sp>
        <p:nvSpPr>
          <p:cNvPr id="17" name="Phase card 3"/>
          <p:cNvSpPr/>
          <p:nvPr/>
        </p:nvSpPr>
        <p:spPr>
          <a:xfrm>
            <a:off x="6199632" y="3611880"/>
            <a:ext cx="26060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382512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Marketing material creation</a:t>
            </a:r>
            <a:endParaRPr lang="en-US" sz="1600" dirty="0"/>
          </a:p>
        </p:txBody>
      </p:sp>
      <p:sp>
        <p:nvSpPr>
          <p:cNvPr id="19" name="Week 4 circle"/>
          <p:cNvSpPr/>
          <p:nvPr/>
        </p:nvSpPr>
        <p:spPr>
          <a:xfrm>
            <a:off x="9848088" y="1828800"/>
            <a:ext cx="1005840" cy="100584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20" name="Week 4 icon" descr="Week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9665" y="2100377"/>
            <a:ext cx="462686" cy="46268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25128" y="30175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 4</a:t>
            </a:r>
            <a:endParaRPr lang="en-US" sz="2400" dirty="0"/>
          </a:p>
        </p:txBody>
      </p:sp>
      <p:sp>
        <p:nvSpPr>
          <p:cNvPr id="22" name="Phase card 4"/>
          <p:cNvSpPr/>
          <p:nvPr/>
        </p:nvSpPr>
        <p:spPr>
          <a:xfrm>
            <a:off x="9025128" y="3611880"/>
            <a:ext cx="26060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9208008" y="361188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Launch and distribution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39496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Together for a cleaner planet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Ready-to-send bid email</a:t>
            </a:r>
            <a:endParaRPr lang="en-US" sz="3400" dirty="0"/>
          </a:p>
        </p:txBody>
      </p:sp>
      <p:sp>
        <p:nvSpPr>
          <p:cNvPr id="3" name="Email card"/>
          <p:cNvSpPr/>
          <p:nvPr/>
        </p:nvSpPr>
        <p:spPr>
          <a:xfrm>
            <a:off x="548640" y="1371600"/>
            <a:ext cx="7863840" cy="4663440"/>
          </a:xfrm>
          <a:prstGeom prst="roundRect">
            <a:avLst>
              <a:gd name="adj" fmla="val 19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Subject: Proposal – PÓLLO Eco-Friendly Water Bottle | Marketing Collaboration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73152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Dear Sir/Madam,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 am writing on behalf of PÓLLO, an eco-friendly water bottle brand, to propose a marketing collaboration with your esteemed organisation. We believe our sustainable and stylish products align well with your audience.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Attached is our detailed proposal with brand mock-ups, key features, costing and project timeline. We would be happy to discuss it at your convenience.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Best regards,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PÓLLO Marketing Team</a:t>
            </a:r>
            <a:endParaRPr lang="en-US" sz="1600" dirty="0"/>
          </a:p>
        </p:txBody>
      </p:sp>
      <p:sp>
        <p:nvSpPr>
          <p:cNvPr id="6" name="Email circle"/>
          <p:cNvSpPr/>
          <p:nvPr/>
        </p:nvSpPr>
        <p:spPr>
          <a:xfrm>
            <a:off x="9052560" y="1554480"/>
            <a:ext cx="1097280" cy="109728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pic>
        <p:nvPicPr>
          <p:cNvPr id="7" name="Email icon" descr="Emai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8826" y="1850746"/>
            <a:ext cx="504749" cy="50474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05256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Attach: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9052560" y="333756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Proposal deck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Brand mock-ups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Costing sheet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4-week timeline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9144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build a greener future together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651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FE8D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Drink Green. Live Clean.</a:t>
            </a:r>
            <a:endParaRPr lang="en-US" sz="2400" dirty="0"/>
          </a:p>
        </p:txBody>
      </p:sp>
      <p:sp>
        <p:nvSpPr>
          <p:cNvPr id="4" name="Next step circle 1"/>
          <p:cNvSpPr/>
          <p:nvPr/>
        </p:nvSpPr>
        <p:spPr>
          <a:xfrm>
            <a:off x="731520" y="3657600"/>
            <a:ext cx="594360" cy="5943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5" name="Next step icon 1" descr="Review the proposal and mock-up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381304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365760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Review the proposal and mock-ups</a:t>
            </a:r>
            <a:endParaRPr lang="en-US" sz="2000" dirty="0"/>
          </a:p>
        </p:txBody>
      </p:sp>
      <p:sp>
        <p:nvSpPr>
          <p:cNvPr id="7" name="Next step circle 2"/>
          <p:cNvSpPr/>
          <p:nvPr/>
        </p:nvSpPr>
        <p:spPr>
          <a:xfrm>
            <a:off x="731520" y="4480560"/>
            <a:ext cx="594360" cy="5943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8" name="Next step icon 2" descr="Confirm budget and quant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4636008"/>
            <a:ext cx="283464" cy="28346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448056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Confirm budget and quantity</a:t>
            </a:r>
            <a:endParaRPr lang="en-US" sz="2000" dirty="0"/>
          </a:p>
        </p:txBody>
      </p:sp>
      <p:sp>
        <p:nvSpPr>
          <p:cNvPr id="10" name="Next step circle 3"/>
          <p:cNvSpPr/>
          <p:nvPr/>
        </p:nvSpPr>
        <p:spPr>
          <a:xfrm>
            <a:off x="731520" y="5303520"/>
            <a:ext cx="594360" cy="594360"/>
          </a:xfrm>
          <a:prstGeom prst="ellipse">
            <a:avLst/>
          </a:prstGeom>
          <a:solidFill>
            <a:srgbClr val="2E7D4F"/>
          </a:solidFill>
          <a:ln w="12700">
            <a:solidFill>
              <a:srgbClr val="2E7D4F"/>
            </a:solidFill>
            <a:prstDash val="solid"/>
          </a:ln>
        </p:spPr>
      </p:sp>
      <p:pic>
        <p:nvPicPr>
          <p:cNvPr id="11" name="Next step icon 3" descr="Kick off Week 1 design approva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458968"/>
            <a:ext cx="283464" cy="28346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554480" y="530352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Kick off Week 1 design approval</a:t>
            </a:r>
            <a:endParaRPr lang="en-US" sz="2000" dirty="0"/>
          </a:p>
        </p:txBody>
      </p:sp>
      <p:sp>
        <p:nvSpPr>
          <p:cNvPr id="13" name="Image frame"/>
          <p:cNvSpPr/>
          <p:nvPr/>
        </p:nvSpPr>
        <p:spPr>
          <a:xfrm>
            <a:off x="7955280" y="914400"/>
            <a:ext cx="3566160" cy="5029200"/>
          </a:xfrm>
          <a:prstGeom prst="roundRect">
            <a:avLst>
              <a:gd name="adj" fmla="val 3846"/>
            </a:avLst>
          </a:prstGeom>
          <a:solidFill>
            <a:srgbClr val="EAF4EC"/>
          </a:solidFill>
          <a:ln w="12700">
            <a:solidFill>
              <a:srgbClr val="EAF4EC"/>
            </a:solidFill>
            <a:prstDash val="solid"/>
          </a:ln>
        </p:spPr>
      </p:sp>
      <p:pic>
        <p:nvPicPr>
          <p:cNvPr id="14" name="Closing product photo" descr="Green PÓLLO water bott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97244" y="1097280"/>
            <a:ext cx="1882232" cy="466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ollo Green">
  <a:themeElements>
    <a:clrScheme name="Pollo Green">
      <a:dk1>
        <a:srgbClr val="163A24"/>
      </a:dk1>
      <a:lt1>
        <a:srgbClr val="FFFFFF"/>
      </a:lt1>
      <a:dk2>
        <a:srgbClr val="1E5631"/>
      </a:dk2>
      <a:lt2>
        <a:srgbClr val="EAF4EC"/>
      </a:lt2>
      <a:accent1>
        <a:srgbClr val="2E7D4F"/>
      </a:accent1>
      <a:accent2>
        <a:srgbClr val="7AB648"/>
      </a:accent2>
      <a:accent3>
        <a:srgbClr val="3B82C4"/>
      </a:accent3>
      <a:accent4>
        <a:srgbClr val="E8789A"/>
      </a:accent4>
      <a:accent5>
        <a:srgbClr val="222222"/>
      </a:accent5>
      <a:accent6>
        <a:srgbClr val="F2B134"/>
      </a:accent6>
      <a:hlink>
        <a:srgbClr val="2E7D4F"/>
      </a:hlink>
      <a:folHlink>
        <a:srgbClr val="1E5631"/>
      </a:folHlink>
    </a:clrScheme>
    <a:fontScheme name="Pollo Gree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PÓLLO – Brand Overview &amp; Marketing Collaboration</dc:title>
  <dc:subject>PptxGenJS Presentation</dc:subject>
  <dc:creator>PptxGenJS</dc:creator>
  <cp:lastModifiedBy>PptxGenJS</cp:lastModifiedBy>
  <cp:revision>1</cp:revision>
  <dcterms:created xsi:type="dcterms:W3CDTF">2026-10-08T10:48:36Z</dcterms:created>
  <dcterms:modified xsi:type="dcterms:W3CDTF">2026-10-08T10:48:36Z</dcterms:modified>
</cp:coreProperties>
</file>